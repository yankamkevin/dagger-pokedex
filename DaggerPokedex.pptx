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de l'app Dagger Pokedex : une app Android pedagogique dont le but est de montrer l'injection de dependances avec Dagger 2 (pas Hilt).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appel a la PokeAPI, liste en grille avec pagination et recherche, ecran de detail colore selon le type, transition partagee, splash et icone Pokeball.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 rouge de la presentation, centre principalement sur Dagger.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couches strictes. Le domaine est au centre et ne connait ni Android ni Retrofit. Verifie : aucun import reel de data/android dans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probleme que la DI resout : couplage, testabilite, duplication.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L'inversion de dependance : le coeur de la Clean Architecture, rendue possible par Dagger via @Binds.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Hilt = Dagger avec le boilerplate genere. On fait tout a la main pour comprendre ce que Hilt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graphe complet : de la base URL jusqu'a l'Activity. Dagger fait la resolution a la compilation.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@Inject : la base. Constructeur pour nos classes, champ pour l'Activity que Android instancie.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@Provides dans un @Module : la recette pour construire des types qu'on ne controle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@Binds : impl -&gt; interface, une ligne. @Provides : quand il faut du code. Regle : besoin de code ? Provides. Juste mapper impl-&gt;interface ? Binds.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@Component est la racine : Dagger genere DaggerAppComponent avec tout le wiring.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 custom @AppScope = singletons a l'echelle de l'app, comme @Singleton mais explicite.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Qualifiers : distinguer deux bindings du meme type. @BaseUrl, @IoDispatcher.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fameux : injecter un ViewModel en Dagger pur via une Map&lt;Class, Provider&gt; multibindee et une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benefices concrets de la DI dans ce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ce qui a ete fait autour de la demonstration Dagger : UI soignee, tests,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Chiffres et versions. Dagger passe par KSP, pas kapt.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: Dagger demystifie. Le README et les commentaires permettent d'apprendre en lisant 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keball_w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63040" y="3291840"/>
            <a:ext cx="5486400" cy="5486400"/>
          </a:xfrm>
          <a:prstGeom prst="rect">
            <a:avLst/>
          </a:prstGeom>
        </p:spPr>
      </p:pic>
      <p:pic>
        <p:nvPicPr>
          <p:cNvPr id="4" name="Picture 3" descr="pokeball_clas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71600"/>
            <a:ext cx="3108960" cy="3108960"/>
          </a:xfrm>
          <a:prstGeom prst="rect">
            <a:avLst/>
          </a:prstGeom>
        </p:spPr>
      </p:pic>
      <p:pic>
        <p:nvPicPr>
          <p:cNvPr id="5" name="Picture 4" descr="poke_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34340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8130"/>
                </a:solidFill>
                <a:latin typeface="Arial"/>
              </a:rPr>
              <a:t>DÉMONSTRATION ·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8046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Arial"/>
              </a:rPr>
              <a:t>Dagger </a:t>
            </a:r>
            <a:r>
              <a:rPr sz="6000" b="1" i="0">
                <a:solidFill>
                  <a:srgbClr val="DC0A2D"/>
                </a:solidFill>
                <a:latin typeface="Arial"/>
              </a:rPr>
              <a:t>Pokédex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 i="0">
                <a:solidFill>
                  <a:srgbClr val="C9D2DC"/>
                </a:solidFill>
                <a:latin typeface="Calibri"/>
              </a:rPr>
              <a:t>L'injection de dépendances avec Dagger 2, expliquée de bout en bout.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09160"/>
            <a:ext cx="1965960" cy="502920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9D2DC"/>
                </a:solidFill>
                <a:latin typeface="Calibri"/>
              </a:rPr>
              <a:t>Clean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4709160"/>
            <a:ext cx="1965960" cy="502920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470916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9D2DC"/>
                </a:solidFill>
                <a:latin typeface="Calibri"/>
              </a:rPr>
              <a:t>MVVM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709160"/>
            <a:ext cx="1965960" cy="502920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470916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9D2DC"/>
                </a:solidFill>
                <a:latin typeface="Calibri"/>
              </a:rPr>
              <a:t>Jetpack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4709160"/>
            <a:ext cx="1965960" cy="502920"/>
          </a:xfrm>
          <a:prstGeom prst="roundRect">
            <a:avLst>
              <a:gd name="adj" fmla="val 50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470916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9D2DC"/>
                </a:solidFill>
                <a:latin typeface="Calibri"/>
              </a:rPr>
              <a:t>PokéAPI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Kotlin · Retrofit/Moshi · Coroutines · Dagger 2.57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0A2D"/>
                </a:solidFill>
                <a:latin typeface="Arial"/>
              </a:rPr>
              <a:t>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Une app simple, soignée de bout en 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19375" y="1709928"/>
            <a:ext cx="2066544" cy="4306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hot_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527" y="1783080"/>
            <a:ext cx="1920240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09647" y="61081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Splash animé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2575" y="1709928"/>
            <a:ext cx="2066544" cy="4306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5727" y="1783080"/>
            <a:ext cx="192024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52847" y="61081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Accueil + recherche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05775" y="1709928"/>
            <a:ext cx="2066544" cy="43068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8927" y="1783080"/>
            <a:ext cx="1920240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96047" y="61081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Détail par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F3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F35FC"/>
                </a:solidFill>
                <a:latin typeface="Arial"/>
              </a:rPr>
              <a:t>AU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Ce que nous allons voir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EE8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47672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837943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F26"/>
                </a:solidFill>
                <a:latin typeface="Calibri"/>
              </a:rPr>
              <a:t>Le problème sans injection de dépendances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03703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Couplage fort, code non testable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88920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267919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F26"/>
                </a:solidFill>
                <a:latin typeface="Calibri"/>
              </a:rPr>
              <a:t>La solution : inversion &amp; Dagger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4495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Le domaine déclare, Dagger fournit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57015"/>
            <a:ext cx="457200" cy="457200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630168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35204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F26"/>
                </a:solidFill>
                <a:latin typeface="Calibri"/>
              </a:rPr>
              <a:t>Zoom sur chaque annotation Dagger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@Inject, @Module, @Binds, @Component, scopes, qualifiers, multibinding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398264"/>
            <a:ext cx="457200" cy="457200"/>
          </a:xfrm>
          <a:prstGeom prst="ellipse">
            <a:avLst/>
          </a:prstGeom>
          <a:solidFill>
            <a:srgbClr val="F9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471416"/>
            <a:ext cx="310896" cy="3108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63040" y="43616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F26"/>
                </a:solidFill>
                <a:latin typeface="Calibri"/>
              </a:rPr>
              <a:t>Ce que Dagger a permis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7274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Testabilité, découplage, source unique de vérité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F7D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5312664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52029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1F26"/>
                </a:solidFill>
                <a:latin typeface="Calibri"/>
              </a:rPr>
              <a:t>Au-delà de Dagger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5686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280"/>
                </a:solidFill>
                <a:latin typeface="Calibri"/>
              </a:rPr>
              <a:t>UI, transitions, pagination, tests, icône</a:t>
            </a:r>
          </a:p>
        </p:txBody>
      </p:sp>
      <p:pic>
        <p:nvPicPr>
          <p:cNvPr id="27" name="Picture 26" descr="pokeball_wm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6576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390F0"/>
                </a:solidFill>
                <a:latin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Clean Architecture + MVVM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7955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066543"/>
            <a:ext cx="237744" cy="237744"/>
          </a:xfrm>
          <a:prstGeom prst="ellipse">
            <a:avLst/>
          </a:prstGeom>
          <a:solidFill>
            <a:srgbClr val="F9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10312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197510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95587"/>
                </a:solidFill>
                <a:latin typeface="Arial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95728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6"/>
                </a:solidFill>
                <a:latin typeface="Calibri"/>
              </a:rPr>
              <a:t>Compose · ViewModels (MVVM) ·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2491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Android, UI, StateFlow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7955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83863"/>
            <a:ext cx="237744" cy="237744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520439"/>
            <a:ext cx="164592" cy="1645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339242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7AC74C"/>
                </a:solidFill>
                <a:latin typeface="Arial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13048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6"/>
                </a:solidFill>
                <a:latin typeface="Calibri"/>
              </a:rPr>
              <a:t>Modèles · PokemonRepository (interface) ·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42231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Kotlin pur — zéro Android, zéro réseau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7955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4901183"/>
            <a:ext cx="237744" cy="237744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4937759"/>
            <a:ext cx="164592" cy="1645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63040" y="480974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390F0"/>
                </a:solidFill>
                <a:latin typeface="Arial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30368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F26"/>
                </a:solidFill>
                <a:latin typeface="Calibri"/>
              </a:rPr>
              <a:t>Retrofit · DTOs · Mappers · RepositoryImpl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559552"/>
            <a:ext cx="7040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Les détails techniques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828800"/>
            <a:ext cx="2651760" cy="4069080"/>
          </a:xfrm>
          <a:prstGeom prst="roundRect">
            <a:avLst>
              <a:gd name="adj" fmla="val 6000"/>
            </a:avLst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148840"/>
            <a:ext cx="1005840" cy="1005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98280" y="32918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794760"/>
            <a:ext cx="2377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C9D2DC"/>
                </a:solidFill>
                <a:latin typeface="Calibri"/>
              </a:rPr>
              <a:t>Le package Dagger est la colle : il construit et relie les trois couches, sans qu'aucune n'en dépende directement.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Les dépendances pointent vers l'intérieur — </a:t>
            </a:r>
            <a:r>
              <a:rPr sz="1300" b="1" i="0">
                <a:solidFill>
                  <a:srgbClr val="1A1F26"/>
                </a:solidFill>
                <a:latin typeface="Calibri"/>
              </a:rPr>
              <a:t>le domaine ne dépend de rien.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EE8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8130"/>
                </a:solidFill>
                <a:latin typeface="Arial"/>
              </a:rPr>
              <a:t>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Sans injection : tout est figé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766560" cy="402336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l'anti-pattern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309360" cy="35112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PokemonListViewModel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{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1">
                <a:solidFill>
                  <a:srgbClr val="6B7A88"/>
                </a:solidFill>
                <a:latin typeface="Courier New"/>
              </a:rPr>
              <a:t>// On construit TOUT a la main, en dur :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private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val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api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=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Retrofit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Builder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baseUrl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"</a:t>
            </a:r>
            <a:r>
              <a:rPr sz="1350" i="0">
                <a:solidFill>
                  <a:srgbClr val="D6DCE4"/>
                </a:solidFill>
                <a:latin typeface="Courier New"/>
              </a:rPr>
              <a:t>https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1">
                <a:solidFill>
                  <a:srgbClr val="6B7A88"/>
                </a:solidFill>
                <a:latin typeface="Courier New"/>
              </a:rPr>
              <a:t>//pokeapi.co/api/v2/")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build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create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PokeApiService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java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private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val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repo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=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PokemonRepositoryImpl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api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1">
                <a:solidFill>
                  <a:srgbClr val="6B7A88"/>
                </a:solidFill>
                <a:latin typeface="Courier New"/>
              </a:rPr>
              <a:t>// -&gt; impossible a tester, tout est verrouille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74519"/>
            <a:ext cx="3886200" cy="896112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011679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8130"/>
                </a:solidFill>
                <a:latin typeface="Calibri"/>
              </a:rPr>
              <a:t>Couplage 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50008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6"/>
                </a:solidFill>
                <a:latin typeface="Calibri"/>
              </a:rPr>
              <a:t>le ViewModel connaît Retrofit, l'URL, l'impl…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898648"/>
            <a:ext cx="3886200" cy="896112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03580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8130"/>
                </a:solidFill>
                <a:latin typeface="Calibri"/>
              </a:rPr>
              <a:t>Non testable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374136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6"/>
                </a:solidFill>
                <a:latin typeface="Calibri"/>
              </a:rPr>
              <a:t>impossible d'injecter un faux repository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22776"/>
            <a:ext cx="3886200" cy="896112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059936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8130"/>
                </a:solidFill>
                <a:latin typeface="Calibri"/>
              </a:rPr>
              <a:t>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398264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6"/>
                </a:solidFill>
                <a:latin typeface="Calibri"/>
              </a:rPr>
              <a:t>chaque classe recrée ses dépendances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946904"/>
            <a:ext cx="3886200" cy="896112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508406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8130"/>
                </a:solidFill>
                <a:latin typeface="Calibri"/>
              </a:rPr>
              <a:t>Changement coûteux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422392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F26"/>
                </a:solidFill>
                <a:latin typeface="Calibri"/>
              </a:rPr>
              <a:t>une modif se répercute partout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C74C"/>
                </a:solidFill>
                <a:latin typeface="Arial"/>
              </a:rPr>
              <a:t>LA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Inversion : on déclare, Dagger fournit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11480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le bon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02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domain : le CONTRAT (une interface)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interface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{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}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data : l'IMPLEMENTATION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PokemonRepositoryImpl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@Inject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constructor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api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PokeApiService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di : Dagger relie contrat et impl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@Binds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bind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impl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PokemonRepositoryImpl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</a:t>
            </a:r>
          </a:p>
        </p:txBody>
      </p:sp>
      <p:sp>
        <p:nvSpPr>
          <p:cNvPr id="10" name="Oval 9"/>
          <p:cNvSpPr/>
          <p:nvPr/>
        </p:nvSpPr>
        <p:spPr>
          <a:xfrm>
            <a:off x="7955279" y="1920240"/>
            <a:ext cx="566928" cy="566928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9202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0195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Le domaine déclare
un besoin (interface)</a:t>
            </a:r>
          </a:p>
        </p:txBody>
      </p:sp>
      <p:sp>
        <p:nvSpPr>
          <p:cNvPr id="13" name="Oval 12"/>
          <p:cNvSpPr/>
          <p:nvPr/>
        </p:nvSpPr>
        <p:spPr>
          <a:xfrm>
            <a:off x="7955279" y="3218688"/>
            <a:ext cx="566928" cy="566928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2186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La data fournit
l'implémentation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955279" y="4517136"/>
            <a:ext cx="566928" cy="566928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51713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49884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Dagger relie les deux
à la compilation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F7D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7D02C"/>
                </a:solidFill>
                <a:latin typeface="Arial"/>
              </a:rPr>
              <a:t>POURQUOI DAGGER, PAS HILT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Tout wirer à la main, exprès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C9D2DC"/>
                </a:solidFill>
                <a:latin typeface="Calibri"/>
              </a:rPr>
              <a:t>Hilt génère ce boilerplate pour vous — et cache justement ce qu'on veut comprendre. Ici, tout est explicite.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9748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HILT (magie)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9748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7D02C"/>
                </a:solidFill>
                <a:latin typeface="Calibri"/>
              </a:rPr>
              <a:t>ICI, EN DAGGER 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55848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Composant applicatif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55848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@HiltAndroidApp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55848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CE4"/>
                </a:solidFill>
                <a:latin typeface="Courier New"/>
              </a:rPr>
              <a:t>@Component + DaggerAppComponent.factory()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22776"/>
            <a:ext cx="10744200" cy="10972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Injection d'Activity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69080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@AndroidEntryPoint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06908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CE4"/>
                </a:solidFill>
                <a:latin typeface="Courier New"/>
              </a:rPr>
              <a:t>appComponent.inject(activity)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36008"/>
            <a:ext cx="10744200" cy="10972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82312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Scopes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82312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prédéfinis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82312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CE4"/>
                </a:solidFill>
                <a:latin typeface="Courier New"/>
              </a:rPr>
              <a:t>@AppScope custom (le nôtre)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9240"/>
            <a:ext cx="10744200" cy="10972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495544"/>
            <a:ext cx="3566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Injection de ViewModel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95544"/>
            <a:ext cx="3200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@HiltViewModel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495544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D6DCE4"/>
                </a:solidFill>
                <a:latin typeface="Courier New"/>
              </a:rPr>
              <a:t>multibinding @IntoMap + Factory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062472"/>
            <a:ext cx="10744200" cy="10972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0A2D"/>
                </a:solidFill>
                <a:latin typeface="Arial"/>
              </a:rPr>
              <a:t>LE 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Dagger résout toute la chaîne à la compilation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673352" cy="13716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798064"/>
            <a:ext cx="14538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6390F0"/>
                </a:solidFill>
                <a:latin typeface="Arial"/>
              </a:rPr>
              <a:t>Providers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83280"/>
            <a:ext cx="1453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Courier New"/>
              </a:rPr>
              <a:t>BaseUrl · OkHttp · Moshi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6584" y="2468880"/>
            <a:ext cx="1742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580" y="2468880"/>
            <a:ext cx="1673352" cy="13716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2308" y="2798064"/>
            <a:ext cx="14538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6390F0"/>
                </a:solidFill>
                <a:latin typeface="Arial"/>
              </a:rPr>
              <a:t>Retrofit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2308" y="3383280"/>
            <a:ext cx="1453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Courier New"/>
              </a:rPr>
              <a:t>→ PokeApiService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644" y="2468880"/>
            <a:ext cx="1742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3641" y="2468880"/>
            <a:ext cx="1673352" cy="13716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3369" y="2798064"/>
            <a:ext cx="14538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7AC74C"/>
                </a:solidFill>
                <a:latin typeface="Arial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3369" y="3383280"/>
            <a:ext cx="1453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Courier New"/>
              </a:rPr>
              <a:t>@Binds l'impl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8705" y="2468880"/>
            <a:ext cx="1742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701" y="2468880"/>
            <a:ext cx="1673352" cy="13716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4429" y="2798064"/>
            <a:ext cx="14538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7AC74C"/>
                </a:solidFill>
                <a:latin typeface="Arial"/>
              </a:rPr>
              <a:t>Use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4429" y="3383280"/>
            <a:ext cx="1453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Courier New"/>
              </a:rPr>
              <a:t>@Inject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9765" y="2468880"/>
            <a:ext cx="1742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762" y="2468880"/>
            <a:ext cx="1673352" cy="13716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5490" y="2798064"/>
            <a:ext cx="14538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F95587"/>
                </a:solidFill>
                <a:latin typeface="Arial"/>
              </a:rPr>
              <a:t>ViewModels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5490" y="3383280"/>
            <a:ext cx="1453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Courier New"/>
              </a:rPr>
              <a:t>@IntoMap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0826" y="2468880"/>
            <a:ext cx="1742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6823" y="2468880"/>
            <a:ext cx="1673352" cy="1371600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6551" y="2798064"/>
            <a:ext cx="145389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 i="0">
                <a:solidFill>
                  <a:srgbClr val="DC0A2D"/>
                </a:solidFill>
                <a:latin typeface="Arial"/>
              </a:rPr>
              <a:t>Factory → 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6551" y="3383280"/>
            <a:ext cx="1453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7280"/>
                </a:solidFill>
                <a:latin typeface="Courier New"/>
              </a:rPr>
              <a:t>inject()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434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A1F26"/>
                </a:solidFill>
                <a:latin typeface="Calibri"/>
              </a:rPr>
              <a:t>On demande une </a:t>
            </a:r>
            <a:r>
              <a:rPr sz="1500" b="1" i="0">
                <a:solidFill>
                  <a:srgbClr val="DC0A2D"/>
                </a:solidFill>
                <a:latin typeface="Courier New"/>
              </a:rPr>
              <a:t>ViewModelProvider.Factory</a:t>
            </a:r>
            <a:r>
              <a:rPr sz="1500" b="0" i="0">
                <a:solidFill>
                  <a:srgbClr val="1A1F26"/>
                </a:solidFill>
                <a:latin typeface="Calibri"/>
              </a:rPr>
              <a:t> ; Dagger remonte toute la chaîne et génère le code qui construit</a:t>
            </a:r>
            <a:r>
              <a:rPr sz="1500" b="1" i="0">
                <a:solidFill>
                  <a:srgbClr val="1A1F26"/>
                </a:solidFill>
                <a:latin typeface="Calibri"/>
              </a:rPr>
              <a:t> chaque objet dans le bon ordre.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AC74C"/>
                </a:solidFill>
                <a:latin typeface="Calibri"/>
              </a:rPr>
              <a:t>Une dépendance manquante = une erreur de compilation, pas un crash au runtime.</a:t>
            </a:r>
          </a:p>
        </p:txBody>
      </p:sp>
      <p:pic>
        <p:nvPicPr>
          <p:cNvPr id="32" name="Picture 31" descr="pokeball_wm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52120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C74C"/>
                </a:solidFill>
                <a:latin typeface="Arial"/>
              </a:rPr>
              <a:t>ANNOTATION · @INJECT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@Inject — Dagger sait construire vos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2062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javax.inject.Inject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Injection par CONSTRUCTEUR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GetPokemonListUseCase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@Inject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constructor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private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val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repository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PokemonRepository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Injection de CHAMP (Activity creee par Android)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MainActivity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ComponentActivity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{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@Inject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lateinit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var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viewModelFactory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ViewModelProvider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Factory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79" y="2103120"/>
            <a:ext cx="457200" cy="457200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7627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AC74C"/>
                </a:solidFill>
                <a:latin typeface="Arial"/>
              </a:rPr>
              <a:t>Ce que ça permet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Construction automatique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Dagger résout les paramètres et appelle le constructeur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Deux styles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constructeur (nos classes) et champ (l'Activity)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542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Zéro `new`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56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plus aucune dépendance construite à la 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390F0"/>
                </a:solidFill>
                <a:latin typeface="Arial"/>
              </a:rPr>
              <a:t>ANNOTATION · @MODULE / @PROVIDES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@Module / @Provides — pour les types tiers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2062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di/NetworkModule.kt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@Module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object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NetworkModule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{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@Provides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@AppScope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provideRetrofit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client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OkHttpClient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,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moshi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Moshi</a:t>
            </a:r>
            <a:r>
              <a:rPr sz="13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@BaseUrl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url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String</a:t>
            </a:r>
            <a:r>
              <a:rPr sz="13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Retrofit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=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Retrofit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Builder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baseUrl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url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client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client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addConverterFactory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  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MoshiConverterFactory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create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moshi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     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build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79" y="2103120"/>
            <a:ext cx="457200" cy="457200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7627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390F0"/>
                </a:solidFill>
                <a:latin typeface="Arial"/>
              </a:rPr>
              <a:t>Ce que ça permet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Types 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Retrofit, OkHttp, Moshi n'ont pas de @Inject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Recette explicite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on décrit COMMENT construire l'objet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542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Chaînage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56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les paramètres deviennent des dépendances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F3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F35FC"/>
                </a:solidFill>
                <a:latin typeface="Arial"/>
              </a:rPr>
              <a:t>ANNOTATION · @BINDS VS @PROVIDES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@Binds vs @Provides — la question classique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7AC74C"/>
                </a:solidFill>
                <a:latin typeface="Courier New"/>
              </a:rPr>
              <a:t>@Binds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14600"/>
            <a:ext cx="4800600" cy="16916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60904"/>
            <a:ext cx="4343400" cy="1453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50" i="0">
                <a:solidFill>
                  <a:srgbClr val="F7B267"/>
                </a:solidFill>
                <a:latin typeface="Courier New"/>
              </a:rPr>
              <a:t>@Binds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7CC4FF"/>
                </a:solidFill>
                <a:latin typeface="Courier New"/>
              </a:rPr>
              <a:t>abstract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bindRepo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impl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PokemonRepositoryImpl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PokemonRepository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800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A1F26"/>
                </a:solidFill>
                <a:latin typeface="Calibri"/>
              </a:rPr>
              <a:t>Quand Dagger sait </a:t>
            </a:r>
            <a:r>
              <a:rPr sz="1300" b="1" i="0">
                <a:solidFill>
                  <a:srgbClr val="1A1F26"/>
                </a:solidFill>
                <a:latin typeface="Calibri"/>
              </a:rPr>
              <a:t>déjà</a:t>
            </a:r>
            <a:r>
              <a:rPr sz="1300" b="0" i="0">
                <a:solidFill>
                  <a:srgbClr val="1A1F26"/>
                </a:solidFill>
                <a:latin typeface="Calibri"/>
              </a:rPr>
              <a:t> construire l'impl (elle a un @Inject). Abstrait, zéro code, plus léger : Dagger réutilise l'objet et le renvoie sous l'interface.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6390F0"/>
                </a:solidFill>
                <a:latin typeface="Courier New"/>
              </a:rPr>
              <a:t>@Provides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514600"/>
            <a:ext cx="4800600" cy="16916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2660904"/>
            <a:ext cx="4343400" cy="1453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50" i="0">
                <a:solidFill>
                  <a:srgbClr val="F7B267"/>
                </a:solidFill>
                <a:latin typeface="Courier New"/>
              </a:rPr>
              <a:t>@Provides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provideRetrofit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Retrofit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=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Retrofit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Builder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build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343400"/>
            <a:ext cx="4800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A1F26"/>
                </a:solidFill>
                <a:latin typeface="Calibri"/>
              </a:rPr>
              <a:t>Quand il faut du </a:t>
            </a:r>
            <a:r>
              <a:rPr sz="1300" b="1" i="0">
                <a:solidFill>
                  <a:srgbClr val="1A1F26"/>
                </a:solidFill>
                <a:latin typeface="Calibri"/>
              </a:rPr>
              <a:t>code</a:t>
            </a:r>
            <a:r>
              <a:rPr sz="1300" b="0" i="0">
                <a:solidFill>
                  <a:srgbClr val="1A1F26"/>
                </a:solidFill>
                <a:latin typeface="Calibri"/>
              </a:rPr>
              <a:t> pour construire (types tiers, valeurs configurées). La méthode a un corps qui fabrique l'objet.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0A2D"/>
                </a:solidFill>
                <a:latin typeface="Arial"/>
              </a:rPr>
              <a:t>ANNOTATION · @COMPONENT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@Component — la racine du graphe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2062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di/AppComponent.kt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00" i="0">
                <a:solidFill>
                  <a:srgbClr val="F7B267"/>
                </a:solidFill>
                <a:latin typeface="Courier New"/>
              </a:rPr>
              <a:t>@AppScope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F7B267"/>
                </a:solidFill>
                <a:latin typeface="Courier New"/>
              </a:rPr>
              <a:t>@Component</a:t>
            </a:r>
            <a:r>
              <a:rPr sz="1300" i="0">
                <a:solidFill>
                  <a:srgbClr val="D6DCE4"/>
                </a:solidFill>
                <a:latin typeface="Courier New"/>
              </a:rPr>
              <a:t>(</a:t>
            </a:r>
            <a:r>
              <a:rPr sz="1300" i="0">
                <a:solidFill>
                  <a:srgbClr val="D6DCE4"/>
                </a:solidFill>
                <a:latin typeface="Courier New"/>
              </a:rPr>
              <a:t>modules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=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[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D6DCE4"/>
                </a:solidFill>
                <a:latin typeface="Courier New"/>
              </a:rPr>
              <a:t>   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AppModule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00" i="0">
                <a:solidFill>
                  <a:srgbClr val="D6DCE4"/>
                </a:solidFill>
                <a:latin typeface="Courier New"/>
              </a:rPr>
              <a:t>,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NetworkModule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0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D6DCE4"/>
                </a:solidFill>
                <a:latin typeface="Courier New"/>
              </a:rPr>
              <a:t>   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RepositoryModule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00" i="0">
                <a:solidFill>
                  <a:srgbClr val="D6DCE4"/>
                </a:solidFill>
                <a:latin typeface="Courier New"/>
              </a:rPr>
              <a:t>,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ViewModelModule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0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D6DCE4"/>
                </a:solidFill>
                <a:latin typeface="Courier New"/>
              </a:rPr>
              <a:t>]</a:t>
            </a:r>
            <a:r>
              <a:rPr sz="130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7CC4FF"/>
                </a:solidFill>
                <a:latin typeface="Courier New"/>
              </a:rPr>
              <a:t>interface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AppComponent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{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0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viewModelFactory</a:t>
            </a:r>
            <a:r>
              <a:rPr sz="1300" i="0">
                <a:solidFill>
                  <a:srgbClr val="D6DCE4"/>
                </a:solidFill>
                <a:latin typeface="Courier New"/>
              </a:rPr>
              <a:t>(</a:t>
            </a:r>
            <a:r>
              <a:rPr sz="1300" i="0">
                <a:solidFill>
                  <a:srgbClr val="D6DCE4"/>
                </a:solidFill>
                <a:latin typeface="Courier New"/>
              </a:rPr>
              <a:t>)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ViewModelProvider</a:t>
            </a:r>
            <a:r>
              <a:rPr sz="1300" i="0">
                <a:solidFill>
                  <a:srgbClr val="D6DCE4"/>
                </a:solidFill>
                <a:latin typeface="Courier New"/>
              </a:rPr>
              <a:t>.</a:t>
            </a:r>
            <a:r>
              <a:rPr sz="1300" i="0">
                <a:solidFill>
                  <a:srgbClr val="D6DCE4"/>
                </a:solidFill>
                <a:latin typeface="Courier New"/>
              </a:rPr>
              <a:t>Factory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D6DCE4"/>
                </a:solidFill>
                <a:latin typeface="Courier New"/>
              </a:rPr>
              <a:t>  </a:t>
            </a:r>
            <a:r>
              <a:rPr sz="130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inject</a:t>
            </a:r>
            <a:r>
              <a:rPr sz="1300" i="0">
                <a:solidFill>
                  <a:srgbClr val="D6DCE4"/>
                </a:solidFill>
                <a:latin typeface="Courier New"/>
              </a:rPr>
              <a:t>(</a:t>
            </a:r>
            <a:r>
              <a:rPr sz="1300" i="0">
                <a:solidFill>
                  <a:srgbClr val="D6DCE4"/>
                </a:solidFill>
                <a:latin typeface="Courier New"/>
              </a:rPr>
              <a:t>activity</a:t>
            </a:r>
            <a:r>
              <a:rPr sz="1300" i="0">
                <a:solidFill>
                  <a:srgbClr val="D6DCE4"/>
                </a:solidFill>
                <a:latin typeface="Courier New"/>
              </a:rPr>
              <a:t>:</a:t>
            </a:r>
            <a:r>
              <a:rPr sz="1300" i="0">
                <a:solidFill>
                  <a:srgbClr val="D6DCE4"/>
                </a:solidFill>
                <a:latin typeface="Courier New"/>
              </a:rPr>
              <a:t> </a:t>
            </a:r>
            <a:r>
              <a:rPr sz="1300" i="0">
                <a:solidFill>
                  <a:srgbClr val="D6DCE4"/>
                </a:solidFill>
                <a:latin typeface="Courier New"/>
              </a:rPr>
              <a:t>MainActivity</a:t>
            </a:r>
            <a:r>
              <a:rPr sz="130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00" i="0">
                <a:solidFill>
                  <a:srgbClr val="D6DCE4"/>
                </a:solidFill>
                <a:latin typeface="Courier New"/>
              </a:rPr>
              <a:t>}</a:t>
            </a:r>
          </a:p>
          <a:p>
            <a:pPr>
              <a:lnSpc>
                <a:spcPct val="106000"/>
              </a:lnSpc>
            </a:pPr>
            <a:r>
              <a:rPr sz="1300" i="1">
                <a:solidFill>
                  <a:srgbClr val="6B7A88"/>
                </a:solidFill>
                <a:latin typeface="Courier New"/>
              </a:rPr>
              <a:t>// Dagger genere DaggerAppComponent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79" y="2103120"/>
            <a:ext cx="457200" cy="457200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7627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C0A2D"/>
                </a:solidFill>
                <a:latin typeface="Arial"/>
              </a:rPr>
              <a:t>Ce que ça permet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Le graphe assemblé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réunit tous les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Code généré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DaggerAppComponent contient tout le câblage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542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Deux sorties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56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provision (factory) + injection (Activity)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F9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5587"/>
                </a:solidFill>
                <a:latin typeface="Arial"/>
              </a:rPr>
              <a:t>ANNOTATION · @SCOPE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@AppScope — une seule instance, partagée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2062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di/scope/AppScope.kt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@Scope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@Retention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AnnotationRetention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RUNTIME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annotation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AppScope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  </a:t>
            </a:r>
            <a:r>
              <a:rPr sz="1350" i="1">
                <a:solidFill>
                  <a:srgbClr val="6B7A88"/>
                </a:solidFill>
                <a:latin typeface="Courier New"/>
              </a:rPr>
              <a:t>// scope custom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@Provides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@AppScope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provideOkHttpClient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OkHttpClient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{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.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}</a:t>
            </a:r>
          </a:p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-&gt; UN seul client, Retrofit, repository...</a:t>
            </a:r>
          </a:p>
          <a:p>
            <a:pPr>
              <a:lnSpc>
                <a:spcPct val="106000"/>
              </a:lnSpc>
            </a:pPr>
            <a:r>
              <a:rPr sz="1350" i="1">
                <a:solidFill>
                  <a:srgbClr val="6B7A88"/>
                </a:solidFill>
                <a:latin typeface="Courier New"/>
              </a:rPr>
              <a:t>//    pour toute la vie de l'application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79" y="2103120"/>
            <a:ext cx="457200" cy="457200"/>
          </a:xfrm>
          <a:prstGeom prst="ellipse">
            <a:avLst/>
          </a:prstGeom>
          <a:solidFill>
            <a:srgbClr val="F9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7627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5587"/>
                </a:solidFill>
                <a:latin typeface="Arial"/>
              </a:rPr>
              <a:t>Ce que ça permet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Instances uniques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objets coûteux créés une seule fois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Cycle de vie maîtrisé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lié à celui du composant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542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Comme @Singleton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56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mais l'intention est explicite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F7D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7D02C"/>
                </a:solidFill>
                <a:latin typeface="Arial"/>
              </a:rPr>
              <a:t>ANNOTATION · @QUALIFIER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@Qualifier — distinguer deux fois le même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2062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di/qualifier/Qualifiers.kt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@Qualifier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annotation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BaseUrl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@Qualifier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annotation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IoDispatcher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F7B267"/>
                </a:solidFill>
                <a:latin typeface="Courier New"/>
              </a:rPr>
              <a:t>@Provides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@BaseUrl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provideBaseUrl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=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"</a:t>
            </a:r>
            <a:r>
              <a:rPr sz="1350" i="0">
                <a:solidFill>
                  <a:srgbClr val="D6DCE4"/>
                </a:solidFill>
                <a:latin typeface="Courier New"/>
              </a:rPr>
              <a:t>https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1">
                <a:solidFill>
                  <a:srgbClr val="6B7A88"/>
                </a:solidFill>
                <a:latin typeface="Courier New"/>
              </a:rPr>
              <a:t>//pokeapi.co/api/v2/"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Repo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@Inject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constructor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    </a:t>
            </a:r>
            <a:r>
              <a:rPr sz="1350" i="0">
                <a:solidFill>
                  <a:srgbClr val="F7B267"/>
                </a:solidFill>
                <a:latin typeface="Courier New"/>
              </a:rPr>
              <a:t>@IoDispatcher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dispatcher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:</a:t>
            </a:r>
            <a:r>
              <a:rPr sz="1350" i="0">
                <a:solidFill>
                  <a:srgbClr val="D6DCE4"/>
                </a:solidFill>
                <a:latin typeface="Courier New"/>
              </a:rPr>
              <a:t> </a:t>
            </a:r>
            <a:r>
              <a:rPr sz="1350" i="0">
                <a:solidFill>
                  <a:srgbClr val="D6DCE4"/>
                </a:solidFill>
                <a:latin typeface="Courier New"/>
              </a:rPr>
              <a:t>CoroutineDispatcher</a:t>
            </a:r>
            <a:r>
              <a:rPr sz="13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350" i="0">
                <a:solidFill>
                  <a:srgbClr val="D6DCE4"/>
                </a:solidFill>
                <a:latin typeface="Courier New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79" y="2103120"/>
            <a:ext cx="457200" cy="457200"/>
          </a:xfrm>
          <a:prstGeom prst="ellipse">
            <a:avLst/>
          </a:prstGeom>
          <a:solidFill>
            <a:srgbClr val="F7D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7627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7D02C"/>
                </a:solidFill>
                <a:latin typeface="Arial"/>
              </a:rPr>
              <a:t>Ce que ça permet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Lever l'ambiguïté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deux String, deux Dispatcher… lequel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Étiquette typée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mieux que @Named("...") (typo = erreur)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542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Bindings ciblés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56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le bon objet au bon endroit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EE8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E8130"/>
                </a:solidFill>
                <a:latin typeface="Arial"/>
              </a:rPr>
              <a:t>ANNOTATION · @INTOMAP / @MAPKEY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Multibinding — injecter un ViewModel en Dagger pur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6949440" cy="4206240"/>
          </a:xfrm>
          <a:prstGeom prst="roundRect">
            <a:avLst>
              <a:gd name="adj" fmla="val 45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ourier New"/>
              </a:rPr>
              <a:t>di/ViewModelModule.kt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49424"/>
            <a:ext cx="6492240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250" i="0">
                <a:solidFill>
                  <a:srgbClr val="F7B267"/>
                </a:solidFill>
                <a:latin typeface="Courier New"/>
              </a:rPr>
              <a:t>@Binds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F7B267"/>
                </a:solidFill>
                <a:latin typeface="Courier New"/>
              </a:rPr>
              <a:t>@IntoMap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F7B267"/>
                </a:solidFill>
                <a:latin typeface="Courier New"/>
              </a:rPr>
              <a:t>@ViewModelKey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  <a:r>
              <a:rPr sz="1250" i="0">
                <a:solidFill>
                  <a:srgbClr val="D6DCE4"/>
                </a:solidFill>
                <a:latin typeface="Courier New"/>
              </a:rPr>
              <a:t>PokemonListViewModel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7CC4FF"/>
                </a:solidFill>
                <a:latin typeface="Courier New"/>
              </a:rPr>
              <a:t>abstract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7CC4FF"/>
                </a:solidFill>
                <a:latin typeface="Courier New"/>
              </a:rPr>
              <a:t>fun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bind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  <a:r>
              <a:rPr sz="1250" i="0">
                <a:solidFill>
                  <a:srgbClr val="D6DCE4"/>
                </a:solidFill>
                <a:latin typeface="Courier New"/>
              </a:rPr>
              <a:t>vm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PokemonListViewModel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ViewModel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7CC4FF"/>
                </a:solidFill>
                <a:latin typeface="Courier New"/>
              </a:rPr>
              <a:t>class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DaggerViewModelFactory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F7B267"/>
                </a:solidFill>
                <a:latin typeface="Courier New"/>
              </a:rPr>
              <a:t>@Inject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constructor</a:t>
            </a:r>
            <a:r>
              <a:rPr sz="1250" i="0">
                <a:solidFill>
                  <a:srgbClr val="D6DCE4"/>
                </a:solidFill>
                <a:latin typeface="Courier New"/>
              </a:rPr>
              <a:t>(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  </a:t>
            </a:r>
            <a:r>
              <a:rPr sz="1250" i="0">
                <a:solidFill>
                  <a:srgbClr val="7CC4FF"/>
                </a:solidFill>
                <a:latin typeface="Courier New"/>
              </a:rPr>
              <a:t>val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creators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Map</a:t>
            </a:r>
            <a:r>
              <a:rPr sz="1250" i="0">
                <a:solidFill>
                  <a:srgbClr val="D6DCE4"/>
                </a:solidFill>
                <a:latin typeface="Courier New"/>
              </a:rPr>
              <a:t>&lt;</a:t>
            </a:r>
            <a:r>
              <a:rPr sz="1250" i="0">
                <a:solidFill>
                  <a:srgbClr val="D6DCE4"/>
                </a:solidFill>
                <a:latin typeface="Courier New"/>
              </a:rPr>
              <a:t>Class</a:t>
            </a:r>
            <a:r>
              <a:rPr sz="1250" i="0">
                <a:solidFill>
                  <a:srgbClr val="D6DCE4"/>
                </a:solidFill>
                <a:latin typeface="Courier New"/>
              </a:rPr>
              <a:t>&lt;</a:t>
            </a:r>
            <a:r>
              <a:rPr sz="1250" i="0">
                <a:solidFill>
                  <a:srgbClr val="D6DCE4"/>
                </a:solidFill>
                <a:latin typeface="Courier New"/>
              </a:rPr>
              <a:t>out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ViewModel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&gt;</a:t>
            </a:r>
            <a:r>
              <a:rPr sz="12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                   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Provider</a:t>
            </a:r>
            <a:r>
              <a:rPr sz="1250" i="0">
                <a:solidFill>
                  <a:srgbClr val="D6DCE4"/>
                </a:solidFill>
                <a:latin typeface="Courier New"/>
              </a:rPr>
              <a:t>&lt;</a:t>
            </a:r>
            <a:r>
              <a:rPr sz="1250" i="0">
                <a:solidFill>
                  <a:srgbClr val="D6DCE4"/>
                </a:solidFill>
                <a:latin typeface="Courier New"/>
              </a:rPr>
              <a:t>ViewModel</a:t>
            </a:r>
            <a:r>
              <a:rPr sz="1250" i="0">
                <a:solidFill>
                  <a:srgbClr val="D6DCE4"/>
                </a:solidFill>
                <a:latin typeface="Courier New"/>
              </a:rPr>
              <a:t>&gt;</a:t>
            </a:r>
            <a:r>
              <a:rPr sz="1250" i="0">
                <a:solidFill>
                  <a:srgbClr val="D6DCE4"/>
                </a:solidFill>
                <a:latin typeface="Courier New"/>
              </a:rPr>
              <a:t>&gt;</a:t>
            </a:r>
            <a:r>
              <a:rPr sz="1250" i="0">
                <a:solidFill>
                  <a:srgbClr val="D6DCE4"/>
                </a:solidFill>
                <a:latin typeface="Courier New"/>
              </a:rPr>
              <a:t>,</a:t>
            </a:r>
          </a:p>
          <a:p>
            <a:pPr>
              <a:lnSpc>
                <a:spcPct val="106000"/>
              </a:lnSpc>
            </a:pPr>
            <a:r>
              <a:rPr sz="1250" i="0">
                <a:solidFill>
                  <a:srgbClr val="D6DCE4"/>
                </a:solidFill>
                <a:latin typeface="Courier New"/>
              </a:rPr>
              <a:t>)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:</a:t>
            </a:r>
            <a:r>
              <a:rPr sz="1250" i="0">
                <a:solidFill>
                  <a:srgbClr val="D6DCE4"/>
                </a:solidFill>
                <a:latin typeface="Courier New"/>
              </a:rPr>
              <a:t> </a:t>
            </a:r>
            <a:r>
              <a:rPr sz="1250" i="0">
                <a:solidFill>
                  <a:srgbClr val="D6DCE4"/>
                </a:solidFill>
                <a:latin typeface="Courier New"/>
              </a:rPr>
              <a:t>ViewModelProvider</a:t>
            </a:r>
            <a:r>
              <a:rPr sz="1250" i="0">
                <a:solidFill>
                  <a:srgbClr val="D6DCE4"/>
                </a:solidFill>
                <a:latin typeface="Courier New"/>
              </a:rPr>
              <a:t>.</a:t>
            </a:r>
            <a:r>
              <a:rPr sz="1250" i="0">
                <a:solidFill>
                  <a:srgbClr val="D6DCE4"/>
                </a:solidFill>
                <a:latin typeface="Courier New"/>
              </a:rPr>
              <a:t>Factory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28800"/>
            <a:ext cx="3749039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79" y="2103120"/>
            <a:ext cx="457200" cy="457200"/>
          </a:xfrm>
          <a:prstGeom prst="ellipse">
            <a:avLst/>
          </a:prstGeom>
          <a:solidFill>
            <a:srgbClr val="EE8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1" y="2176272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78240" y="2121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E8130"/>
                </a:solidFill>
                <a:latin typeface="Arial"/>
              </a:rPr>
              <a:t>Le point difficile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Map multibindée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09067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chaque ViewModel = une entrée, clé = sa classe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2160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Provider&lt;T&gt;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0233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fabrique paresseuse : construit à la demande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5429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F26"/>
                </a:solidFill>
                <a:latin typeface="Calibri"/>
              </a:rPr>
              <a:t>Le pont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956048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Dagger construit, Android garde le cycle de vie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AC74C"/>
                </a:solidFill>
                <a:latin typeface="Arial"/>
              </a:rPr>
              <a:t>LE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Ce que Dagger a permis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502920" cy="502920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322576"/>
            <a:ext cx="3383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360" y="219456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Testabilité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1CAD4"/>
                </a:solidFill>
                <a:latin typeface="Calibri"/>
              </a:rPr>
              <a:t>On injecte de faux repositories : use cases et ViewModels testés sans Android ni réseau.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024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322576"/>
            <a:ext cx="338328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19456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Découplage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69748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1CAD4"/>
                </a:solidFill>
                <a:latin typeface="Calibri"/>
              </a:rPr>
              <a:t>Chaque classe ne connaît que ses abstractions. Le domaine ignore Retrofit.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4160520"/>
            <a:ext cx="502920" cy="502920"/>
          </a:xfrm>
          <a:prstGeom prst="ellipse">
            <a:avLst/>
          </a:prstGeom>
          <a:solidFill>
            <a:srgbClr val="F9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4242816"/>
            <a:ext cx="338328" cy="3383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37360" y="411480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Source 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6177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1CAD4"/>
                </a:solidFill>
                <a:latin typeface="Calibri"/>
              </a:rPr>
              <a:t>Un seul graphe décrit toute la construction, résolu à la compilation.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404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4160520"/>
            <a:ext cx="502920" cy="502920"/>
          </a:xfrm>
          <a:prstGeom prst="ellipse">
            <a:avLst/>
          </a:prstGeom>
          <a:solidFill>
            <a:srgbClr val="F7D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4242816"/>
            <a:ext cx="338328" cy="3383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32320" y="4114800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Évolutivité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6177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C1CAD4"/>
                </a:solidFill>
                <a:latin typeface="Calibri"/>
              </a:rPr>
              <a:t>Nouvel écran = un constructeur @Inject + une ligne @IntoMap.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6F3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F35FC"/>
                </a:solidFill>
                <a:latin typeface="Arial"/>
              </a:rPr>
              <a:t>AU-DELÀ DE DAGGER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Le reste du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093976"/>
            <a:ext cx="384048" cy="384048"/>
          </a:xfrm>
          <a:prstGeom prst="ellipse">
            <a:avLst/>
          </a:prstGeom>
          <a:solidFill>
            <a:srgbClr val="F9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15798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1328" y="20574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Splash animé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38658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Pokéball dessinée au Canvas, rotation + fade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2093976"/>
            <a:ext cx="384048" cy="384048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157984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38928" y="20574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Recherche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38658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filtre par nom ou numéro, côté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74519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47888" y="2093976"/>
            <a:ext cx="384048" cy="384048"/>
          </a:xfrm>
          <a:prstGeom prst="ellipse">
            <a:avLst/>
          </a:prstGeom>
          <a:solidFill>
            <a:srgbClr val="EE8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6" y="2157984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96528" y="20574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Thème par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386584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header &amp; barres colorés selon le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3465576"/>
            <a:ext cx="384048" cy="384048"/>
          </a:xfrm>
          <a:prstGeom prst="ellipse">
            <a:avLst/>
          </a:prstGeom>
          <a:solidFill>
            <a:srgbClr val="6F3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529584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81328" y="34290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Transition partagée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758183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la carte se transforme en écran de détail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24612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3465576"/>
            <a:ext cx="384048" cy="384048"/>
          </a:xfrm>
          <a:prstGeom prst="ellipse">
            <a:avLst/>
          </a:prstGeom>
          <a:solidFill>
            <a:srgbClr val="7AC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3529584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38928" y="34290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Pagination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3758183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infinite scroll, 40 par page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24612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47888" y="3465576"/>
            <a:ext cx="384048" cy="384048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6" y="3529584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96528" y="34290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Icône adaptive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3758183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Pokéball vectorielle + monochrome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61772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2688" y="4837176"/>
            <a:ext cx="384048" cy="384048"/>
          </a:xfrm>
          <a:prstGeom prst="ellipse">
            <a:avLst/>
          </a:prstGeom>
          <a:solidFill>
            <a:srgbClr val="F7D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4901183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81328" y="48006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Tests unitaires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5129783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use case &amp; ViewModel, verts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4617720"/>
            <a:ext cx="3429000" cy="1170432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90288" y="4837176"/>
            <a:ext cx="384048" cy="384048"/>
          </a:xfrm>
          <a:prstGeom prst="ellipse">
            <a:avLst/>
          </a:prstGeom>
          <a:solidFill>
            <a:srgbClr val="639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4901183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138928" y="48006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F26"/>
                </a:solidFill>
                <a:latin typeface="Calibri"/>
              </a:rPr>
              <a:t>README pédagogique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5129783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chaque annotation expliquée</a:t>
            </a:r>
          </a:p>
        </p:txBody>
      </p:sp>
      <p:pic>
        <p:nvPicPr>
          <p:cNvPr id="47" name="Picture 46" descr="pok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257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384048" cy="384048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kebal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630936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2144" y="54864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0A2D"/>
                </a:solidFill>
                <a:latin typeface="Arial"/>
              </a:rPr>
              <a:t>EN CHIFFRES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F26"/>
                </a:solidFill>
                <a:latin typeface="Arial"/>
              </a:rPr>
              <a:t>Stack &amp; état du projet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C0A2D"/>
                </a:solidFill>
                <a:latin typeface="Arial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fichiers Kotlin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7451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20116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C0A2D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880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couches Clean 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7451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0116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C0A2D"/>
                </a:solidFill>
                <a:latin typeface="Arial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880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annotations Dagger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874519"/>
            <a:ext cx="2560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C0A2D"/>
                </a:solidFill>
                <a:latin typeface="Arial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8803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build &amp; tests verts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10927080" cy="2103120"/>
          </a:xfrm>
          <a:prstGeom prst="roundRect">
            <a:avLst>
              <a:gd name="adj" fmla="val 5000"/>
            </a:avLst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7D02C"/>
                </a:solidFill>
                <a:latin typeface="Arial"/>
              </a:rPr>
              <a:t>Toolchain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Kotlin  </a:t>
            </a:r>
            <a:r>
              <a:rPr sz="1300" b="1" i="0">
                <a:solidFill>
                  <a:srgbClr val="FFFFFF"/>
                </a:solidFill>
                <a:latin typeface="Courier New"/>
              </a:rPr>
              <a:t>2.2.20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80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Dagger  </a:t>
            </a:r>
            <a:r>
              <a:rPr sz="1300" b="1" i="0">
                <a:solidFill>
                  <a:srgbClr val="FFFFFF"/>
                </a:solidFill>
                <a:latin typeface="Courier New"/>
              </a:rPr>
              <a:t>2.57.2 (via KSP)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Compose BOM  </a:t>
            </a:r>
            <a:r>
              <a:rPr sz="1300" b="1" i="0">
                <a:solidFill>
                  <a:srgbClr val="FFFFFF"/>
                </a:solidFill>
                <a:latin typeface="Courier New"/>
              </a:rPr>
              <a:t>2025.09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AGP / Gradle  </a:t>
            </a:r>
            <a:r>
              <a:rPr sz="1300" b="1" i="0">
                <a:solidFill>
                  <a:srgbClr val="FFFFFF"/>
                </a:solidFill>
                <a:latin typeface="Courier New"/>
              </a:rPr>
              <a:t>8.13 / 9.1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Retrofit / Moshi  </a:t>
            </a:r>
            <a:r>
              <a:rPr sz="1300" b="1" i="0">
                <a:solidFill>
                  <a:srgbClr val="FFFFFF"/>
                </a:solidFill>
                <a:latin typeface="Courier New"/>
              </a:rPr>
              <a:t>2.11 / 1.15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08406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6B2"/>
                </a:solidFill>
                <a:latin typeface="Courier New"/>
              </a:rPr>
              <a:t>compileSdk  </a:t>
            </a:r>
            <a:r>
              <a:rPr sz="1300" b="1" i="0">
                <a:solidFill>
                  <a:srgbClr val="FFFFFF"/>
                </a:solidFill>
                <a:latin typeface="Courier New"/>
              </a:rPr>
              <a:t>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keball_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640080"/>
            <a:ext cx="2743200" cy="2743200"/>
          </a:xfrm>
          <a:prstGeom prst="rect">
            <a:avLst/>
          </a:prstGeom>
        </p:spPr>
      </p:pic>
      <p:pic>
        <p:nvPicPr>
          <p:cNvPr id="4" name="Picture 3" descr="pok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429768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E8130"/>
                </a:solidFill>
                <a:latin typeface="Arial"/>
              </a:rPr>
              <a:t>EN RÉSUMÉ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74519"/>
            <a:ext cx="7863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Dagger, sans magie.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227832"/>
            <a:ext cx="256032" cy="256032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154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6DCE4"/>
                </a:solidFill>
                <a:latin typeface="Calibri"/>
              </a:rPr>
              <a:t>Le domaine déclare ses besoins, Dagger fournit le graphe.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886200"/>
            <a:ext cx="256032" cy="256032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81304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6DCE4"/>
                </a:solidFill>
                <a:latin typeface="Calibri"/>
              </a:rPr>
              <a:t>Chaque annotation a un rôle précis — et on l'a vue en vrai.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544568"/>
            <a:ext cx="256032" cy="256032"/>
          </a:xfrm>
          <a:prstGeom prst="ellipse">
            <a:avLst/>
          </a:prstGeom>
          <a:solidFill>
            <a:srgbClr val="DC0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47141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6DCE4"/>
                </a:solidFill>
                <a:latin typeface="Calibri"/>
              </a:rPr>
              <a:t>Résultat : code découplé, testable et facile à faire grandir.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280"/>
                </a:solidFill>
                <a:latin typeface="Calibri"/>
              </a:rPr>
              <a:t>Ouvrez </a:t>
            </a:r>
            <a:r>
              <a:rPr sz="1400" b="1" i="0">
                <a:solidFill>
                  <a:srgbClr val="FFFFFF"/>
                </a:solidFill>
                <a:latin typeface="Courier New"/>
              </a:rPr>
              <a:t>AppComponent.kt</a:t>
            </a:r>
            <a:r>
              <a:rPr sz="1400" b="0" i="0">
                <a:solidFill>
                  <a:srgbClr val="6B7280"/>
                </a:solidFill>
                <a:latin typeface="Calibri"/>
              </a:rPr>
              <a:t> et suivez les commentaires — le code se lit comme un tutoriel.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